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48640"/>
            <a:ext cx="2286000" cy="2286000"/>
          </a:xfrm>
          <a:prstGeom prst="ellipse">
            <a:avLst/>
          </a:prstGeom>
          <a:solidFill>
            <a:srgbClr val="FD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548640" cy="54864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Calibri"/>
              </a:rPr>
              <a:t>Post-Payment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E017D"/>
                </a:solidFill>
                <a:latin typeface="Calibri"/>
              </a:rPr>
              <a:t>AI Powered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3D3D"/>
                </a:solidFill>
                <a:latin typeface="Calibri"/>
              </a:rPr>
              <a:t>Runs regularly with a look-back and rechecks 835s to detect incorrect payments — especially overpayments.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46120"/>
            <a:ext cx="4206240" cy="1874519"/>
          </a:xfrm>
          <a:prstGeom prst="roundRect">
            <a:avLst>
              <a:gd name="adj" fmla="val 4000"/>
            </a:avLst>
          </a:prstGeom>
          <a:solidFill>
            <a:srgbClr val="E6EDF5"/>
          </a:solidFill>
          <a:ln w="9525">
            <a:solidFill>
              <a:srgbClr val="CB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Calibri"/>
              </a:rPr>
              <a:t>Glass Box — Full Transparency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  <a:latin typeface="Calibri"/>
              </a:rPr>
              <a:t>Applies known Rules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Tracks leading indicators and reasoning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Records intermediary and final outputs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Logs auditable activity at each step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544068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0410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AI Pipeline and Rules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580644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986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User Workflows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617220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3562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Model &amp; App Administration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04104.0" y="978408"/>
            <a:ext cx="0.0" cy="4005072"/>
          </a:xfrm>
          <a:prstGeom prst="line">
            <a:avLst/>
          </a:prstGeom>
          <a:ln w="1587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20640" y="411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46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246888"/>
            <a:ext cx="4572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383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Post-Payment Ingestion &amp; Filtering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PayGuard ingests the 835s, runs a classification model, and selects the most suspect payments for more specific detection rules.</a:t>
            </a:r>
          </a:p>
        </p:txBody>
      </p:sp>
      <p:sp>
        <p:nvSpPr>
          <p:cNvPr id="21" name="Oval 20"/>
          <p:cNvSpPr/>
          <p:nvPr/>
        </p:nvSpPr>
        <p:spPr>
          <a:xfrm>
            <a:off x="5120640" y="1554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389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389888"/>
            <a:ext cx="4572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4813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Detection &amp; Scoring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PayGuard runs a mix of deterministic and LLM rules against each claim, further classifying, prioritizing, and analyzing the claims prior to Analyst reviews.</a:t>
            </a:r>
          </a:p>
        </p:txBody>
      </p:sp>
      <p:sp>
        <p:nvSpPr>
          <p:cNvPr id="25" name="Oval 24"/>
          <p:cNvSpPr/>
          <p:nvPr/>
        </p:nvSpPr>
        <p:spPr>
          <a:xfrm>
            <a:off x="5120640" y="2697480"/>
            <a:ext cx="566928" cy="566928"/>
          </a:xfrm>
          <a:prstGeom prst="ellipse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532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2532888"/>
            <a:ext cx="45720" cy="960120"/>
          </a:xfrm>
          <a:prstGeom prst="rect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6243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Analyst Review &amp; Recovery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A payment integrity analyst reviews the evidence-backed case, adjusts, and actions on it: corrects, annotates, escalates. Sent to provider or UIC.</a:t>
            </a:r>
          </a:p>
        </p:txBody>
      </p:sp>
      <p:sp>
        <p:nvSpPr>
          <p:cNvPr id="29" name="Oval 28"/>
          <p:cNvSpPr/>
          <p:nvPr/>
        </p:nvSpPr>
        <p:spPr>
          <a:xfrm>
            <a:off x="5120640" y="384048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675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675888"/>
            <a:ext cx="45720" cy="96012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7673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Reconciliation &amp; Closure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PayGuard receives reversal transactions and matches the expected recovery amount. Confirms and tracks financial closure, and records the final disposition — recovered, written off, or overturned.</a:t>
            </a:r>
          </a:p>
        </p:txBody>
      </p:sp>
      <p:sp>
        <p:nvSpPr>
          <p:cNvPr id="33" name="Oval 32"/>
          <p:cNvSpPr/>
          <p:nvPr/>
        </p:nvSpPr>
        <p:spPr>
          <a:xfrm>
            <a:off x="5120640" y="498348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818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4818888"/>
            <a:ext cx="45720" cy="96012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49103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Autonomous Learning and Retraining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PayGuard regularly re-trains using new data from the adjudicated claim and expert notes.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48640"/>
            <a:ext cx="2286000" cy="2286000"/>
          </a:xfrm>
          <a:prstGeom prst="ellipse">
            <a:avLst/>
          </a:prstGeom>
          <a:solidFill>
            <a:srgbClr val="FD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548640" cy="54864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Calibri"/>
              </a:rPr>
              <a:t>Analyst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E017D"/>
                </a:solidFill>
                <a:latin typeface="Calibri"/>
              </a:rPr>
              <a:t>Human-in-the-Loop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3D3D"/>
                </a:solidFill>
                <a:latin typeface="Calibri"/>
              </a:rPr>
              <a:t>Analysts review AI-prioritized cases, adjudicate findings, issue provider notices, and reconcile recoveries — every action auditable and reversible.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46120"/>
            <a:ext cx="4206240" cy="1874519"/>
          </a:xfrm>
          <a:prstGeom prst="roundRect">
            <a:avLst>
              <a:gd name="adj" fmla="val 4000"/>
            </a:avLst>
          </a:prstGeom>
          <a:solidFill>
            <a:srgbClr val="E6EDF5"/>
          </a:solidFill>
          <a:ln w="9525">
            <a:solidFill>
              <a:srgbClr val="CB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Calibri"/>
              </a:rPr>
              <a:t>Glass Box — Full Accountability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  <a:latin typeface="Calibri"/>
              </a:rPr>
              <a:t>Decisions traced to evidence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Per-finding accept / reject / adjust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Notes, @mentions, contact log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Reversible &amp; version-controlled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544068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0410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Faster Throughput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580644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986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Higher Recovery Yield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617220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3562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Defensible Decisions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04104.0" y="978408"/>
            <a:ext cx="0.0" cy="4005072"/>
          </a:xfrm>
          <a:prstGeom prst="line">
            <a:avLst/>
          </a:prstGeom>
          <a:ln w="1587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20640" y="411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46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246888"/>
            <a:ext cx="4572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383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Triage &amp; Pickup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Reviews the prioritized worklist, scopes to my-cases or all-cases, and picks up the top-ranked items. AI has already classified and ranked them.</a:t>
            </a:r>
          </a:p>
        </p:txBody>
      </p:sp>
      <p:sp>
        <p:nvSpPr>
          <p:cNvPr id="21" name="Oval 20"/>
          <p:cNvSpPr/>
          <p:nvPr/>
        </p:nvSpPr>
        <p:spPr>
          <a:xfrm>
            <a:off x="5120640" y="1554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389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389888"/>
            <a:ext cx="4572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4813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Evidence Review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Inspects firing detectors, claim lines, member and provider context, prior audit log, and provider risk attribution to build a complete picture.</a:t>
            </a:r>
          </a:p>
        </p:txBody>
      </p:sp>
      <p:sp>
        <p:nvSpPr>
          <p:cNvPr id="25" name="Oval 24"/>
          <p:cNvSpPr/>
          <p:nvPr/>
        </p:nvSpPr>
        <p:spPr>
          <a:xfrm>
            <a:off x="5120640" y="2697480"/>
            <a:ext cx="566928" cy="566928"/>
          </a:xfrm>
          <a:prstGeom prst="ellipse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532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2532888"/>
            <a:ext cx="45720" cy="960120"/>
          </a:xfrm>
          <a:prstGeom prst="rect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6243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Disposition &amp; Adjustment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Accepts, rejects, or adjusts each finding individually; overrides the at-risk amount when warranted; documents reasoning in @mentioned notes.</a:t>
            </a:r>
          </a:p>
        </p:txBody>
      </p:sp>
      <p:sp>
        <p:nvSpPr>
          <p:cNvPr id="29" name="Oval 28"/>
          <p:cNvSpPr/>
          <p:nvPr/>
        </p:nvSpPr>
        <p:spPr>
          <a:xfrm>
            <a:off x="5120640" y="384048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675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675888"/>
            <a:ext cx="45720" cy="96012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7673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Notice &amp; Escalation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Generates the provider notice from templates, sends it via mail or fax, and escalates to a supervisor when the case exceeds the $2K threshold.</a:t>
            </a:r>
          </a:p>
        </p:txBody>
      </p:sp>
      <p:sp>
        <p:nvSpPr>
          <p:cNvPr id="33" name="Oval 32"/>
          <p:cNvSpPr/>
          <p:nvPr/>
        </p:nvSpPr>
        <p:spPr>
          <a:xfrm>
            <a:off x="5120640" y="498348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818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4818888"/>
            <a:ext cx="45720" cy="96012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49103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Reconciliation &amp; Closure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Logs provider contact, matches incoming 835 reversals to expected recoupment, and records the final disposition — recovered, written off, or overturned.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48640"/>
            <a:ext cx="2286000" cy="2286000"/>
          </a:xfrm>
          <a:prstGeom prst="ellipse">
            <a:avLst/>
          </a:prstGeom>
          <a:solidFill>
            <a:srgbClr val="FD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548640" cy="54864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Calibri"/>
              </a:rPr>
              <a:t>Supervisor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E017D"/>
                </a:solidFill>
                <a:latin typeface="Calibri"/>
              </a:rPr>
              <a:t>Oversight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3D3D"/>
                </a:solidFill>
                <a:latin typeface="Calibri"/>
              </a:rPr>
              <a:t>Supervisors gate high-impact cases, triage escalations, balance team workload, and tune detection rules and prioritization weights.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46120"/>
            <a:ext cx="4206240" cy="1874519"/>
          </a:xfrm>
          <a:prstGeom prst="roundRect">
            <a:avLst>
              <a:gd name="adj" fmla="val 4000"/>
            </a:avLst>
          </a:prstGeom>
          <a:solidFill>
            <a:srgbClr val="E6EDF5"/>
          </a:solidFill>
          <a:ln w="9525">
            <a:solidFill>
              <a:srgbClr val="CB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Calibri"/>
              </a:rPr>
              <a:t>Control Tower — Configurable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  <a:latin typeface="Calibri"/>
              </a:rPr>
              <a:t>$2K approval gate on closures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Escalation queue with audit trail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Bulk assign across the analyst pool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Tunable rules, weights, and thresholds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544068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0410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Quality 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580644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986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Capacity Planning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617220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3562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Configurable Detection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04104.0" y="978408"/>
            <a:ext cx="0.0" cy="4005072"/>
          </a:xfrm>
          <a:prstGeom prst="line">
            <a:avLst/>
          </a:prstGeom>
          <a:ln w="1587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20640" y="411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46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246888"/>
            <a:ext cx="4572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383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Approval Queue ($2K Gate)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Reviews case closures flagged by the $2K threshold. Approves, rejects, or returns to the analyst with a written decision and audit-logged rationale.</a:t>
            </a:r>
          </a:p>
        </p:txBody>
      </p:sp>
      <p:sp>
        <p:nvSpPr>
          <p:cNvPr id="21" name="Oval 20"/>
          <p:cNvSpPr/>
          <p:nvPr/>
        </p:nvSpPr>
        <p:spPr>
          <a:xfrm>
            <a:off x="5120640" y="1554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389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389888"/>
            <a:ext cx="4572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4813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Escalation Triage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Acts on soft-escalated cases — re-assigns, takes ownership, or resolves. Each escalation carries its reason and notifies the originator on resolution.</a:t>
            </a:r>
          </a:p>
        </p:txBody>
      </p:sp>
      <p:sp>
        <p:nvSpPr>
          <p:cNvPr id="25" name="Oval 24"/>
          <p:cNvSpPr/>
          <p:nvPr/>
        </p:nvSpPr>
        <p:spPr>
          <a:xfrm>
            <a:off x="5120640" y="2697480"/>
            <a:ext cx="566928" cy="566928"/>
          </a:xfrm>
          <a:prstGeom prst="ellipse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532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2532888"/>
            <a:ext cx="45720" cy="960120"/>
          </a:xfrm>
          <a:prstGeom prst="rect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6243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Bulk Workload Assignment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Selects multiple cases from the worklist and assigns them across the analyst pool in a single action. Drives per-analyst throughput visibility.</a:t>
            </a:r>
          </a:p>
        </p:txBody>
      </p:sp>
      <p:sp>
        <p:nvSpPr>
          <p:cNvPr id="29" name="Oval 28"/>
          <p:cNvSpPr/>
          <p:nvPr/>
        </p:nvSpPr>
        <p:spPr>
          <a:xfrm>
            <a:off x="5120640" y="384048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675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675888"/>
            <a:ext cx="45720" cy="96012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7673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Rule &amp; Threshold Tuning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Adjusts prioritization weights, detector rule scores, supervisor gate threshold, and letter templates — every change versioned and auditable.</a:t>
            </a:r>
          </a:p>
        </p:txBody>
      </p:sp>
      <p:sp>
        <p:nvSpPr>
          <p:cNvPr id="33" name="Oval 32"/>
          <p:cNvSpPr/>
          <p:nvPr/>
        </p:nvSpPr>
        <p:spPr>
          <a:xfrm>
            <a:off x="5120640" y="498348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818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4818888"/>
            <a:ext cx="45720" cy="96012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4910328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Model &amp; Team Performance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Retrains the billing-variance model on demand, monitors precision / recall / AUC, reviews per-provider SHAP attributions, and tracks team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