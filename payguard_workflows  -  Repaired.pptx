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548640"/>
            <a:ext cx="2286000" cy="2286000"/>
          </a:xfrm>
          <a:prstGeom prst="ellipse">
            <a:avLst/>
          </a:prstGeom>
          <a:solidFill>
            <a:srgbClr val="FD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548640" cy="54864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11111"/>
                </a:solidFill>
                <a:latin typeface="Calibri"/>
              </a:rPr>
              <a:t>Post-Payment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4206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E017D"/>
                </a:solidFill>
                <a:latin typeface="Calibri"/>
              </a:rPr>
              <a:t>AI Powered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4206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D3D3D"/>
                </a:solidFill>
                <a:latin typeface="Calibri"/>
              </a:rPr>
              <a:t>Runs regularly with a look-back and rechecks 835s to detect incorrect payments — especially overpayments.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46120"/>
            <a:ext cx="4206240" cy="1874519"/>
          </a:xfrm>
          <a:prstGeom prst="roundRect">
            <a:avLst>
              <a:gd name="adj" fmla="val 4000"/>
            </a:avLst>
          </a:prstGeom>
          <a:solidFill>
            <a:srgbClr val="E6EDF5"/>
          </a:solidFill>
          <a:ln w="9525">
            <a:solidFill>
              <a:srgbClr val="CB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  <a:latin typeface="Calibri"/>
              </a:rPr>
              <a:t>Glass Box — Full Transparency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  <a:latin typeface="Calibri"/>
              </a:rPr>
              <a:t>Applies known Rules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D3D3D"/>
                </a:solidFill>
                <a:latin typeface="Calibri"/>
              </a:rPr>
              <a:t>Tracks leading indicators and reasoning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D3D3D"/>
                </a:solidFill>
                <a:latin typeface="Calibri"/>
              </a:rPr>
              <a:t>Records intermediary and final outputs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D3D3D"/>
                </a:solidFill>
                <a:latin typeface="Calibri"/>
              </a:rPr>
              <a:t>Logs auditable activity at each step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544068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04104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E017D"/>
                </a:solidFill>
                <a:latin typeface="Calibri"/>
              </a:rPr>
              <a:t>AI Pipeline and Rules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580644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9864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E017D"/>
                </a:solidFill>
                <a:latin typeface="Calibri"/>
              </a:rPr>
              <a:t>User Workflows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617220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135624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E017D"/>
                </a:solidFill>
                <a:latin typeface="Calibri"/>
              </a:rPr>
              <a:t>Model &amp; App Administration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0" y="978408"/>
            <a:ext cx="0" cy="4005072"/>
          </a:xfrm>
          <a:prstGeom prst="line">
            <a:avLst/>
          </a:prstGeom>
          <a:ln w="1587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120640" y="411480"/>
            <a:ext cx="566928" cy="56692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46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0" y="246888"/>
            <a:ext cx="4572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72200" y="338328"/>
            <a:ext cx="5440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Post-Payment Ingestion &amp; Filtering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PayGuard ingests the 835s, runs a classification model, and selects the most suspect payments for more specific detection rules.</a:t>
            </a:r>
          </a:p>
        </p:txBody>
      </p:sp>
      <p:sp>
        <p:nvSpPr>
          <p:cNvPr id="21" name="Oval 20"/>
          <p:cNvSpPr/>
          <p:nvPr/>
        </p:nvSpPr>
        <p:spPr>
          <a:xfrm>
            <a:off x="5120640" y="1554480"/>
            <a:ext cx="566928" cy="56692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1389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0" y="1389888"/>
            <a:ext cx="4572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72200" y="1481328"/>
            <a:ext cx="5440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Detection &amp; Scoring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PayGuard runs a mix of deterministic and LLM rules against each claim, further classifying, prioritizing, and analyzing the claims prior to Analyst reviews.</a:t>
            </a:r>
          </a:p>
        </p:txBody>
      </p:sp>
      <p:sp>
        <p:nvSpPr>
          <p:cNvPr id="25" name="Oval 24"/>
          <p:cNvSpPr/>
          <p:nvPr/>
        </p:nvSpPr>
        <p:spPr>
          <a:xfrm>
            <a:off x="5120640" y="2697480"/>
            <a:ext cx="566928" cy="566928"/>
          </a:xfrm>
          <a:prstGeom prst="ellipse">
            <a:avLst/>
          </a:prstGeom>
          <a:solidFill>
            <a:srgbClr val="5A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2532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0" y="2532888"/>
            <a:ext cx="45720" cy="960120"/>
          </a:xfrm>
          <a:prstGeom prst="rect">
            <a:avLst/>
          </a:prstGeom>
          <a:solidFill>
            <a:srgbClr val="5A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72200" y="2624328"/>
            <a:ext cx="5440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Analyst Review &amp; Recovery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A payment integrity analyst reviews the evidence-backed case, adjusts, and actions on it: corrects, annotates, escalates. Sent to provider or UIC.</a:t>
            </a:r>
          </a:p>
        </p:txBody>
      </p:sp>
      <p:sp>
        <p:nvSpPr>
          <p:cNvPr id="29" name="Oval 28"/>
          <p:cNvSpPr/>
          <p:nvPr/>
        </p:nvSpPr>
        <p:spPr>
          <a:xfrm>
            <a:off x="5120640" y="3840480"/>
            <a:ext cx="566928" cy="566928"/>
          </a:xfrm>
          <a:prstGeom prst="ellipse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3675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43600" y="3675888"/>
            <a:ext cx="45720" cy="960120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72200" y="3767328"/>
            <a:ext cx="5440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Reconciliation &amp; Closure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PayGuard receives reversal transactions and matches the expected recovery amount. Confirms and tracks financial closure, and records the final disposition — recovered, written off, or overturned.</a:t>
            </a:r>
          </a:p>
        </p:txBody>
      </p:sp>
      <p:sp>
        <p:nvSpPr>
          <p:cNvPr id="33" name="Oval 32"/>
          <p:cNvSpPr/>
          <p:nvPr/>
        </p:nvSpPr>
        <p:spPr>
          <a:xfrm>
            <a:off x="5120640" y="4983480"/>
            <a:ext cx="566928" cy="566928"/>
          </a:xfrm>
          <a:prstGeom prst="ellipse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4818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43600" y="4818888"/>
            <a:ext cx="45720" cy="960120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72200" y="4910328"/>
            <a:ext cx="5440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Autonomous Learning and Retraining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PayGuard regularly re-trains using new data from the adjudicated claim and expert notes.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548640"/>
            <a:ext cx="2286000" cy="2286000"/>
          </a:xfrm>
          <a:prstGeom prst="ellipse">
            <a:avLst/>
          </a:prstGeom>
          <a:solidFill>
            <a:srgbClr val="FD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548640" cy="54864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11111"/>
                </a:solidFill>
                <a:latin typeface="Calibri"/>
              </a:rPr>
              <a:t>Analyst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4206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E017D"/>
                </a:solidFill>
                <a:latin typeface="Calibri"/>
              </a:rPr>
              <a:t>Human-in-the-Loop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4206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D3D3D"/>
                </a:solidFill>
                <a:latin typeface="Calibri"/>
              </a:rPr>
              <a:t>Analysts review AI-prioritized cases, adjudicate findings, issue provider notices, and reconcile recoveries — every action auditable and reversible.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46120"/>
            <a:ext cx="4206240" cy="1874519"/>
          </a:xfrm>
          <a:prstGeom prst="roundRect">
            <a:avLst>
              <a:gd name="adj" fmla="val 4000"/>
            </a:avLst>
          </a:prstGeom>
          <a:solidFill>
            <a:srgbClr val="E6EDF5"/>
          </a:solidFill>
          <a:ln w="9525">
            <a:solidFill>
              <a:srgbClr val="CB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  <a:latin typeface="Calibri"/>
              </a:rPr>
              <a:t>Glass Box — Full Accountability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  <a:latin typeface="Calibri"/>
              </a:rPr>
              <a:t>Decisions traced to evidence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D3D3D"/>
                </a:solidFill>
                <a:latin typeface="Calibri"/>
              </a:rPr>
              <a:t>Per-finding accept / reject / adjust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D3D3D"/>
                </a:solidFill>
                <a:latin typeface="Calibri"/>
              </a:rPr>
              <a:t>Notes, @mentions, contact log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D3D3D"/>
                </a:solidFill>
                <a:latin typeface="Calibri"/>
              </a:rPr>
              <a:t>Reversible &amp; version-controlled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544068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04104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E017D"/>
                </a:solidFill>
                <a:latin typeface="Calibri"/>
              </a:rPr>
              <a:t>Faster Throughput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580644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9864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E017D"/>
                </a:solidFill>
                <a:latin typeface="Calibri"/>
              </a:rPr>
              <a:t>Higher Recovery Yield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617220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135624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E017D"/>
                </a:solidFill>
                <a:latin typeface="Calibri"/>
              </a:rPr>
              <a:t>Defensible Decisions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0" y="978408"/>
            <a:ext cx="0" cy="4005072"/>
          </a:xfrm>
          <a:prstGeom prst="line">
            <a:avLst/>
          </a:prstGeom>
          <a:ln w="1587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120640" y="411480"/>
            <a:ext cx="566928" cy="56692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46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0" y="246888"/>
            <a:ext cx="4572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72200" y="338328"/>
            <a:ext cx="5440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Triage &amp; Pickup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Reviews the prioritized worklist, scopes to my-cases or all-cases, and picks up the top-ranked items. AI has already classified and ranked them.</a:t>
            </a:r>
          </a:p>
        </p:txBody>
      </p:sp>
      <p:sp>
        <p:nvSpPr>
          <p:cNvPr id="21" name="Oval 20"/>
          <p:cNvSpPr/>
          <p:nvPr/>
        </p:nvSpPr>
        <p:spPr>
          <a:xfrm>
            <a:off x="5120640" y="1554480"/>
            <a:ext cx="566928" cy="56692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1389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0" y="1389888"/>
            <a:ext cx="4572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72200" y="1481328"/>
            <a:ext cx="5440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Evidence Review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Inspects firing detectors, claim lines, member and provider context, prior audit log, and provider risk attribution to build a complete picture.</a:t>
            </a:r>
          </a:p>
        </p:txBody>
      </p:sp>
      <p:sp>
        <p:nvSpPr>
          <p:cNvPr id="25" name="Oval 24"/>
          <p:cNvSpPr/>
          <p:nvPr/>
        </p:nvSpPr>
        <p:spPr>
          <a:xfrm>
            <a:off x="5120640" y="2697480"/>
            <a:ext cx="566928" cy="566928"/>
          </a:xfrm>
          <a:prstGeom prst="ellipse">
            <a:avLst/>
          </a:prstGeom>
          <a:solidFill>
            <a:srgbClr val="5A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2532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0" y="2532888"/>
            <a:ext cx="45720" cy="960120"/>
          </a:xfrm>
          <a:prstGeom prst="rect">
            <a:avLst/>
          </a:prstGeom>
          <a:solidFill>
            <a:srgbClr val="5A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72200" y="2624328"/>
            <a:ext cx="5440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Disposition &amp; Adjustment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Accepts, rejects, or adjusts each finding individually; overrides the at-risk amount when warranted; documents reasoning in @mentioned notes.</a:t>
            </a:r>
          </a:p>
        </p:txBody>
      </p:sp>
      <p:sp>
        <p:nvSpPr>
          <p:cNvPr id="29" name="Oval 28"/>
          <p:cNvSpPr/>
          <p:nvPr/>
        </p:nvSpPr>
        <p:spPr>
          <a:xfrm>
            <a:off x="5120640" y="3840480"/>
            <a:ext cx="566928" cy="566928"/>
          </a:xfrm>
          <a:prstGeom prst="ellipse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3675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43600" y="3675888"/>
            <a:ext cx="45720" cy="960120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72200" y="3767328"/>
            <a:ext cx="5440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Notice &amp; Escalation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Generates the provider notice from templates, sends it via mail or fax, and escalates to a supervisor when the case exceeds the $2K threshold.</a:t>
            </a:r>
          </a:p>
        </p:txBody>
      </p:sp>
      <p:sp>
        <p:nvSpPr>
          <p:cNvPr id="33" name="Oval 32"/>
          <p:cNvSpPr/>
          <p:nvPr/>
        </p:nvSpPr>
        <p:spPr>
          <a:xfrm>
            <a:off x="5120640" y="4983480"/>
            <a:ext cx="566928" cy="566928"/>
          </a:xfrm>
          <a:prstGeom prst="ellipse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4818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43600" y="4818888"/>
            <a:ext cx="45720" cy="960120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72200" y="4910328"/>
            <a:ext cx="5440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Reconciliation &amp; Closure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Logs provider contact, matches incoming 835 reversals to expected recoupment, and records the final disposition — recovered, written off, or overturned.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548640"/>
            <a:ext cx="2286000" cy="2286000"/>
          </a:xfrm>
          <a:prstGeom prst="ellipse">
            <a:avLst/>
          </a:prstGeom>
          <a:solidFill>
            <a:srgbClr val="FD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548640" cy="54864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11111"/>
                </a:solidFill>
                <a:latin typeface="Calibri"/>
              </a:rPr>
              <a:t>Supervisor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4206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E017D"/>
                </a:solidFill>
                <a:latin typeface="Calibri"/>
              </a:rPr>
              <a:t>Oversight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4206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D3D3D"/>
                </a:solidFill>
                <a:latin typeface="Calibri"/>
              </a:rPr>
              <a:t>Supervisors gate high-impact cases, triage escalations, balance team workload, and tune detection rules and prioritization weights.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46120"/>
            <a:ext cx="4206240" cy="1874519"/>
          </a:xfrm>
          <a:prstGeom prst="roundRect">
            <a:avLst>
              <a:gd name="adj" fmla="val 4000"/>
            </a:avLst>
          </a:prstGeom>
          <a:solidFill>
            <a:srgbClr val="E6EDF5"/>
          </a:solidFill>
          <a:ln w="9525">
            <a:solidFill>
              <a:srgbClr val="CB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  <a:latin typeface="Calibri"/>
              </a:rPr>
              <a:t>Control Tower — Configurable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  <a:latin typeface="Calibri"/>
              </a:rPr>
              <a:t>$2K approval gate on closures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D3D3D"/>
                </a:solidFill>
                <a:latin typeface="Calibri"/>
              </a:rPr>
              <a:t>Escalation queue with audit trail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D3D3D"/>
                </a:solidFill>
                <a:latin typeface="Calibri"/>
              </a:rPr>
              <a:t>Bulk assign across the analyst pool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D3D3D"/>
                </a:solidFill>
                <a:latin typeface="Calibri"/>
              </a:rPr>
              <a:t>Tunable rules, weights, and thresholds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544068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04104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E017D"/>
                </a:solidFill>
                <a:latin typeface="Calibri"/>
              </a:rPr>
              <a:t>Quality Control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580644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9864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E017D"/>
                </a:solidFill>
                <a:latin typeface="Calibri"/>
              </a:rPr>
              <a:t>Capacity Planning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617220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135624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E017D"/>
                </a:solidFill>
                <a:latin typeface="Calibri"/>
              </a:rPr>
              <a:t>Configurable Detection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0" y="978408"/>
            <a:ext cx="0" cy="4005072"/>
          </a:xfrm>
          <a:prstGeom prst="line">
            <a:avLst/>
          </a:prstGeom>
          <a:ln w="1587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120640" y="411480"/>
            <a:ext cx="566928" cy="56692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46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0" y="246888"/>
            <a:ext cx="4572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72200" y="338328"/>
            <a:ext cx="5440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Approval Queue ($2K Gate)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Reviews case closures flagged by the $2K threshold. Approves, rejects, or returns to the analyst with a written decision and audit-logged rationale.</a:t>
            </a:r>
          </a:p>
        </p:txBody>
      </p:sp>
      <p:sp>
        <p:nvSpPr>
          <p:cNvPr id="21" name="Oval 20"/>
          <p:cNvSpPr/>
          <p:nvPr/>
        </p:nvSpPr>
        <p:spPr>
          <a:xfrm>
            <a:off x="5120640" y="1554480"/>
            <a:ext cx="566928" cy="56692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1389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0" y="1389888"/>
            <a:ext cx="4572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72200" y="1481328"/>
            <a:ext cx="5440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Escalation Triage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Acts on soft-escalated cases — re-assigns, takes ownership, or resolves. Each escalation carries its reason and notifies the originator on resolution.</a:t>
            </a:r>
          </a:p>
        </p:txBody>
      </p:sp>
      <p:sp>
        <p:nvSpPr>
          <p:cNvPr id="25" name="Oval 24"/>
          <p:cNvSpPr/>
          <p:nvPr/>
        </p:nvSpPr>
        <p:spPr>
          <a:xfrm>
            <a:off x="5120640" y="2697480"/>
            <a:ext cx="566928" cy="566928"/>
          </a:xfrm>
          <a:prstGeom prst="ellipse">
            <a:avLst/>
          </a:prstGeom>
          <a:solidFill>
            <a:srgbClr val="5A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2532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0" y="2532888"/>
            <a:ext cx="45720" cy="960120"/>
          </a:xfrm>
          <a:prstGeom prst="rect">
            <a:avLst/>
          </a:prstGeom>
          <a:solidFill>
            <a:srgbClr val="5A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72200" y="2624328"/>
            <a:ext cx="5440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Bulk Workload Assignment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Selects multiple cases from the worklist and assigns them across the analyst pool in a single action. Drives per-analyst throughput visibility.</a:t>
            </a:r>
          </a:p>
        </p:txBody>
      </p:sp>
      <p:sp>
        <p:nvSpPr>
          <p:cNvPr id="29" name="Oval 28"/>
          <p:cNvSpPr/>
          <p:nvPr/>
        </p:nvSpPr>
        <p:spPr>
          <a:xfrm>
            <a:off x="5120640" y="3840480"/>
            <a:ext cx="566928" cy="566928"/>
          </a:xfrm>
          <a:prstGeom prst="ellipse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3675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43600" y="3675888"/>
            <a:ext cx="45720" cy="960120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72200" y="3767328"/>
            <a:ext cx="5440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Rule &amp; Threshold Tuning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Adjusts prioritization weights, detector rule scores, supervisor gate threshold, and letter templates — every change versioned and auditable.</a:t>
            </a:r>
          </a:p>
        </p:txBody>
      </p:sp>
      <p:sp>
        <p:nvSpPr>
          <p:cNvPr id="33" name="Oval 32"/>
          <p:cNvSpPr/>
          <p:nvPr/>
        </p:nvSpPr>
        <p:spPr>
          <a:xfrm>
            <a:off x="5120640" y="4983480"/>
            <a:ext cx="566928" cy="566928"/>
          </a:xfrm>
          <a:prstGeom prst="ellipse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4818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43600" y="4818888"/>
            <a:ext cx="45720" cy="960120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72200" y="4910328"/>
            <a:ext cx="5440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Model &amp; Team Performance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Retrains the billing-variance model on demand, monitors precision / recall / AUC, reviews per-provider SHAP attributions, and tracks team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620</Words>
  <Application>Microsoft Macintosh PowerPoint</Application>
  <PresentationFormat>Widescreen</PresentationFormat>
  <Paragraphs>87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Issam Zeinoun</cp:lastModifiedBy>
  <cp:revision>2</cp:revision>
  <dcterms:created xsi:type="dcterms:W3CDTF">2013-01-27T09:14:16Z</dcterms:created>
  <dcterms:modified xsi:type="dcterms:W3CDTF">2026-05-27T20:37:11Z</dcterms:modified>
  <cp:category/>
</cp:coreProperties>
</file>