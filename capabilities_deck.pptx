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11111"/>
                </a:solidFill>
                <a:latin typeface="Calibri"/>
              </a:rPr>
              <a:t>Detection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E017D"/>
                </a:solidFill>
                <a:latin typeface="Calibri"/>
              </a:rPr>
              <a:t>Six Concerns. One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Every paid claim is screened against six purpose-built detectors spanning the most material overpayment vectors in commercial and government books — deterministic rules where the policy is bright-line, machine learning where billing behavior is the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965960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Calibri"/>
              </a:rPr>
              <a:t>Why Six, Not One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D3D3D"/>
                </a:solidFill>
                <a:latin typeface="Calibri"/>
              </a:rPr>
              <a:t>Each detector maps to a distinct regulatory or contractual lever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Deterministic rules give defensible, auditable findings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ML supplements, it never overrides, the rule-based logic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New detectors plug into the same orchestrator without rework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53212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9554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Rule + ML hybrid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79592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4301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Explainable per-finding evidence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227064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9048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Configurable thresholds per LOB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04104.0" y="978408"/>
            <a:ext cx="0.0" cy="560527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Duplicate Billing (DET-01)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Catches same member + CPT + service-date resubmissions across providers and TINs — the single largest source of recoverable dollars.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64592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48132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481328"/>
            <a:ext cx="4572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57276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Retro Eligibility (DET-02)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Reconciles paid services against enrollment history to identify claims paid for members not eligible on the date of service.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88036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71576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715768"/>
            <a:ext cx="45720" cy="105156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80720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Fee Schedule Variance (DET-04)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Flags allowed-vs-paid drift above contract tolerance — surfaces configuration errors in the claim adjudication system before they compound.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411480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95020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950208"/>
            <a:ext cx="45720" cy="105156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04164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NCCI / MUE Violations (DET-06)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Applies CMS edit tables for mutually exclusive procedures and medically unlikely units — clinical compliance, encoded.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534924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18464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5184648"/>
            <a:ext cx="45720" cy="105156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27608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Excluded Provider (DET-08)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Cross-references OIG/SAM exclusion lists against rendering and billing NPIs at claim time — eliminates manual list reconciliation.</a:t>
            </a:r>
          </a:p>
        </p:txBody>
      </p:sp>
      <p:sp>
        <p:nvSpPr>
          <p:cNvPr id="37" name="Oval 36"/>
          <p:cNvSpPr/>
          <p:nvPr/>
        </p:nvSpPr>
        <p:spPr>
          <a:xfrm>
            <a:off x="5120640" y="65836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641908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6419088"/>
            <a:ext cx="45720" cy="105156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651052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Coding &amp; Dx Errors (DET-09)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Detects invalid ICD→CPT pairings and unbundling patterns — the category most often missed by single-vendor edit engines.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11111"/>
                </a:solidFill>
                <a:latin typeface="Calibri"/>
              </a:rPr>
              <a:t>Risk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E017D"/>
                </a:solidFill>
                <a:latin typeface="Calibri"/>
              </a:rPr>
              <a:t>Explainable. Prioritized. Defensible.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Every flagged claim receives a composite likelihood score and a priority band that puts the highest-yield, time-sensitive recoveries at the top of the analyst queue — with the math fully exposed so findings hold up in provider appeals.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965960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Calibri"/>
              </a:rPr>
              <a:t>Glass-Box, Not Black-Box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D3D3D"/>
                </a:solidFill>
                <a:latin typeface="Calibri"/>
              </a:rPr>
              <a:t>Likelihood = CPT risk × 0.30 + Provider tier × 0.25 + Dx/CPT × 0.20 + Complexity × 0.15 + ML variance × 0.10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Priority blends amount-at-risk, likelihood, and deadline urgency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SHAP attribution explains every provider-level risk score in plain English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Thresholds, weights, and bands are operator-tunable — no model retrain required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53212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9554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Per-claim, per-provider transparency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79592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4301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Tunable weights without redeploy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227064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9048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Auditor-grade documentation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04104.0" y="978408"/>
            <a:ext cx="0.0" cy="437083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Five-Factor Likelihood Model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Combines CPT risk, provider risk tier, Dx/CPT coherence, claim complexity, and an AutoML billing-variance signal into a single 0–1 score.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64592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48132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481328"/>
            <a:ext cx="4572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57276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AutoML Billing Variance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Penguin FDEAutoML trained on seven behavioral features — unit intensity, modifier patterns, peer deviation — outputs a per-provider score.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88036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71576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715768"/>
            <a:ext cx="45720" cy="105156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80720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Priority Score &amp; Banding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Priority = (amount × 0.60 + likelihood × 0.35 + urgency × 0.05) × 100. HIGH ≥ 75, MEDIUM 50–74, LOW &lt; 50; ≤ 5 days to deadline forces HIGH.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411480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95020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950208"/>
            <a:ext cx="45720" cy="105156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04164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SHAP-Driven Explainability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Per-provider SHAP attribution rendered as plain-English narrative — "modifier usage is significantly elevated vs. peer specialty."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534924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18464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5184648"/>
            <a:ext cx="45720" cy="105156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27608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Operator-Controlled Tuning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Weights, thresholds, urgency windows, and detector rules are stored in config — adjust for LOB or contract terms without touching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11111"/>
                </a:solidFill>
                <a:latin typeface="Calibri"/>
              </a:rPr>
              <a:t>Analyst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E017D"/>
                </a:solidFill>
                <a:latin typeface="Calibri"/>
              </a:rPr>
              <a:t>AI-Augmented. Audit-Ready.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Claude Sonnet 4.6 — accessed through AWS Bedrock — drafts the case narrative, summarizes evidence, and authors provider letters. Every prompt, model response, rule fire, and human action is captured in an immutable timeline behind each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965960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Calibri"/>
              </a:rPr>
              <a:t>Defensible AI at Production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D3D3D"/>
                </a:solidFill>
                <a:latin typeface="Calibri"/>
              </a:rPr>
              <a:t>AWS Bedrock keeps PHI inside the customer's cloud perimeter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Langfuse traces every LLM call — model, latency, tokens, cost, prompt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Per-case audit log captures actor, action, status transitions, reasoning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D3D3D"/>
                </a:solidFill>
                <a:latin typeface="Calibri"/>
              </a:rPr>
              <a:t>Analyst remains the decision-maker; AI accelerates, never overrides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53212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9554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HIPAA-aware deployment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79592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4301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Full chain-of-custody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227064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9048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E017D"/>
                </a:solidFill>
                <a:latin typeface="Calibri"/>
              </a:rPr>
              <a:t>Closed-loop recoupment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04104.0" y="978408"/>
            <a:ext cx="0.0" cy="437083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Prioritized Worklist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Analysts see only high-priority, evidence-backed cases — sorted by dollar yield and deadline pressure, with the detection rationale inline.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64592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48132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481328"/>
            <a:ext cx="4572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57276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AI-Drafted Case Narrative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Claude synthesizes claim facts, detector findings, member and provider context into a reviewable summary — analyst edits, never starts from blank.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88036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71576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715768"/>
            <a:ext cx="45720" cy="105156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80720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Letter Generation &amp; Disposition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Provider/UIC letters are auto-drafted from approved templates with case-specific evidence; disposition codes drive the recoupment workflow.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411480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95020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950208"/>
            <a:ext cx="45720" cy="105156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04164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Immutable Audit Timeline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Every status change, override, comment, and AI generation is logged with actor and timestamp — discovery-ready without forensic reconstruction.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534924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184648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5184648"/>
            <a:ext cx="45720" cy="105156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276088"/>
            <a:ext cx="5440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Calibri"/>
              </a:rPr>
              <a:t>Recoupment &amp; Reconciliation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3D3D3D"/>
                </a:solidFill>
                <a:latin typeface="Calibri"/>
              </a:rPr>
              <a:t>Closes the loop: tracks recovered dollars against findings, feeds outcomes back into model retraining and provider risk tiers.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