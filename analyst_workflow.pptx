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-548640"/>
            <a:ext cx="2286000" cy="2286000"/>
          </a:xfrm>
          <a:prstGeom prst="ellipse">
            <a:avLst/>
          </a:prstGeom>
          <a:solidFill>
            <a:srgbClr val="FD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548640" cy="54864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Calibri"/>
              </a:rPr>
              <a:t>Analyst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017D"/>
                </a:solidFill>
                <a:latin typeface="Calibri"/>
              </a:rPr>
              <a:t>Human-in-the-Loop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D3D3D"/>
                </a:solidFill>
                <a:latin typeface="Calibri"/>
              </a:rPr>
              <a:t>Analysts review AI-prioritized cases, adjudicate findings, issue provider notices, and reconcile recoveries — every action auditable and reversible.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4206240" cy="1874519"/>
          </a:xfrm>
          <a:prstGeom prst="roundRect">
            <a:avLst>
              <a:gd name="adj" fmla="val 4000"/>
            </a:avLst>
          </a:prstGeom>
          <a:solidFill>
            <a:srgbClr val="E6EDF5"/>
          </a:solidFill>
          <a:ln w="9525">
            <a:solidFill>
              <a:srgbClr val="CB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Calibri"/>
              </a:rPr>
              <a:t>Glass Box — Full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3D3D3D"/>
                </a:solidFill>
                <a:latin typeface="Calibri"/>
              </a:rPr>
              <a:t>Decisions traced to evidence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Per-finding accept / reject / adjust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Notes, @mentions, contact log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D3D3D"/>
                </a:solidFill>
                <a:latin typeface="Calibri"/>
              </a:rPr>
              <a:t>Reversible &amp; version-controlled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544068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041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Faster Throughput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80644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986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Higher Recovery Yield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6172200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3562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E017D"/>
                </a:solidFill>
                <a:latin typeface="Calibri"/>
              </a:rPr>
              <a:t>Defensible Decisions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978408"/>
            <a:ext cx="0" cy="4005072"/>
          </a:xfrm>
          <a:prstGeom prst="line">
            <a:avLst/>
          </a:prstGeom>
          <a:ln w="1587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20640" y="411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46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246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Triage &amp; Pickup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Reviews the prioritized worklist, scopes to my-cases or all-cases, and picks up the top-ranked items. AI has already classified and ranked them.</a:t>
            </a:r>
          </a:p>
        </p:txBody>
      </p:sp>
      <p:sp>
        <p:nvSpPr>
          <p:cNvPr id="21" name="Oval 20"/>
          <p:cNvSpPr/>
          <p:nvPr/>
        </p:nvSpPr>
        <p:spPr>
          <a:xfrm>
            <a:off x="5120640" y="1554480"/>
            <a:ext cx="566928" cy="5669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389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389888"/>
            <a:ext cx="4572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1481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Evidence Review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Inspects firing detectors, claim lines, member and provider context, prior audit log, and provider risk attribution to build a complete picture.</a:t>
            </a:r>
          </a:p>
        </p:txBody>
      </p:sp>
      <p:sp>
        <p:nvSpPr>
          <p:cNvPr id="25" name="Oval 24"/>
          <p:cNvSpPr/>
          <p:nvPr/>
        </p:nvSpPr>
        <p:spPr>
          <a:xfrm>
            <a:off x="5120640" y="2697480"/>
            <a:ext cx="566928" cy="566928"/>
          </a:xfrm>
          <a:prstGeom prst="ellipse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532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0" y="2532888"/>
            <a:ext cx="45720" cy="960120"/>
          </a:xfrm>
          <a:prstGeom prst="rect">
            <a:avLst/>
          </a:prstGeom>
          <a:solidFill>
            <a:srgbClr val="5A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Disposition &amp; Adjustment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Accepts, rejects, or adjusts each finding individually; overrides the at-risk amount when warranted; documents reasoning in @mentioned notes.</a:t>
            </a:r>
          </a:p>
        </p:txBody>
      </p:sp>
      <p:sp>
        <p:nvSpPr>
          <p:cNvPr id="29" name="Oval 28"/>
          <p:cNvSpPr/>
          <p:nvPr/>
        </p:nvSpPr>
        <p:spPr>
          <a:xfrm>
            <a:off x="5120640" y="3840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675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0" y="3675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767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Notice &amp; Escalation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Generates the provider notice from templates, sends it via mail or fax, and escalates to a supervisor when the case exceeds the $2K threshold.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4983480"/>
            <a:ext cx="566928" cy="566928"/>
          </a:xfrm>
          <a:prstGeom prst="ellipse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18888"/>
            <a:ext cx="5852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0" y="4818888"/>
            <a:ext cx="45720" cy="960120"/>
          </a:xfrm>
          <a:prstGeom prst="rect">
            <a:avLst/>
          </a:prstGeom>
          <a:solidFill>
            <a:srgbClr val="FE0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4910328"/>
            <a:ext cx="5440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Calibri"/>
              </a:rPr>
              <a:t>Reconciliation &amp; Closure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3D3D3D"/>
                </a:solidFill>
                <a:latin typeface="Calibri"/>
              </a:rPr>
              <a:t>Logs provider contact, matches incoming 835 reversals to expected recoupment, and records the final disposition — recovered, written off, or overturned.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210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Issam Zeinoun</cp:lastModifiedBy>
  <cp:revision>2</cp:revision>
  <dcterms:created xsi:type="dcterms:W3CDTF">2013-01-27T09:14:16Z</dcterms:created>
  <dcterms:modified xsi:type="dcterms:W3CDTF">2026-09-29T15:21:55Z</dcterms:modified>
  <cp:category/>
</cp:coreProperties>
</file>